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· até R$ 1.947 (mais pobre)</c:v>
                </c:pt>
              </c:strCache>
            </c:strRef>
          </c:tx>
          <c:spPr>
            <a:solidFill>
              <a:srgbClr val="6DA7E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1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Até 2 km · 875 mil</c:v>
                  </c:pt>
                  <c:pt idx="1">
                    <c:v>Até 3 km · 1,35 milhão</c:v>
                  </c:pt>
                  <c:pt idx="2">
                    <c:v>Até 5 km · 1,95 milhão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8.38546067382329</c:v>
                </c:pt>
                <c:pt idx="1">
                  <c:v>11.808813635676582</c:v>
                </c:pt>
                <c:pt idx="2">
                  <c:v>16.063372331691298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12E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Até 2 km · 875 mil</c:v>
                  </c:pt>
                  <c:pt idx="1">
                    <c:v>Até 3 km · 1,35 milhão</c:v>
                  </c:pt>
                  <c:pt idx="2">
                    <c:v>Até 5 km · 1,95 milhão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8.50299729825833</c:v>
                </c:pt>
                <c:pt idx="1">
                  <c:v>13.192297775103805</c:v>
                </c:pt>
                <c:pt idx="2">
                  <c:v>17.958025451559934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256AB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Até 2 km · 875 mil</c:v>
                  </c:pt>
                  <c:pt idx="1">
                    <c:v>Até 3 km · 1,35 milhão</c:v>
                  </c:pt>
                  <c:pt idx="2">
                    <c:v>Até 5 km · 1,95 milhão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15.632371049860454</c:v>
                </c:pt>
                <c:pt idx="1">
                  <c:v>18.883832381471745</c:v>
                </c:pt>
                <c:pt idx="2">
                  <c:v>20.773450328407225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184F9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Até 2 km · 875 mil</c:v>
                  </c:pt>
                  <c:pt idx="1">
                    <c:v>Até 3 km · 1,35 milhão</c:v>
                  </c:pt>
                  <c:pt idx="2">
                    <c:v>Até 5 km · 1,95 milhão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30.520191031315278</c:v>
                </c:pt>
                <c:pt idx="1">
                  <c:v>25.972410338787643</c:v>
                </c:pt>
                <c:pt idx="2">
                  <c:v>22.4681855500821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Q5 · acima de R$ 5.795 (mais rico)</c:v>
                </c:pt>
              </c:strCache>
            </c:strRef>
          </c:tx>
          <c:spPr>
            <a:solidFill>
              <a:srgbClr val="0D366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Até 2 km · 875 mil</c:v>
                  </c:pt>
                  <c:pt idx="1">
                    <c:v>Até 3 km · 1,35 milhão</c:v>
                  </c:pt>
                  <c:pt idx="2">
                    <c:v>Até 5 km · 1,95 milhão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36.958979946742645</c:v>
                </c:pt>
                <c:pt idx="1">
                  <c:v>30.142645868960223</c:v>
                </c:pt>
                <c:pt idx="2">
                  <c:v>22.736966338259442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521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6505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Moradores em bolsões</c:v>
                </c:pt>
              </c:strCache>
            </c:strRef>
          </c:tx>
          <c:spPr>
            <a:solidFill>
              <a:srgbClr val="256A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6505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SH Center Lar</c:v>
                  </c:pt>
                  <c:pt idx="1">
                    <c:v>SH Bourbon Ipiranga</c:v>
                  </c:pt>
                  <c:pt idx="2">
                    <c:v>SH Park Canoas</c:v>
                  </c:pt>
                  <c:pt idx="3">
                    <c:v>SH do Vale</c:v>
                  </c:pt>
                  <c:pt idx="4">
                    <c:v>SH Barrasul</c:v>
                  </c:pt>
                  <c:pt idx="5">
                    <c:v>SH Iguatemi POA</c:v>
                  </c:pt>
                  <c:pt idx="6">
                    <c:v>SH Canoas</c:v>
                  </c:pt>
                  <c:pt idx="7">
                    <c:v>SH Bourbon Wallig</c:v>
                  </c:pt>
                  <c:pt idx="8">
                    <c:v>LJ Sapucaia do Sul</c:v>
                  </c:pt>
                  <c:pt idx="9">
                    <c:v>CC Canoas</c:v>
                  </c:pt>
                  <c:pt idx="10">
                    <c:v>LJ Esteio</c:v>
                  </c:pt>
                  <c:pt idx="11">
                    <c:v>LJ Guaíba</c:v>
                  </c:pt>
                  <c:pt idx="12">
                    <c:v>SH Gravataí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68939</c:v>
                </c:pt>
                <c:pt idx="1">
                  <c:v>40210</c:v>
                </c:pt>
                <c:pt idx="2">
                  <c:v>25439</c:v>
                </c:pt>
                <c:pt idx="3">
                  <c:v>21154</c:v>
                </c:pt>
                <c:pt idx="4">
                  <c:v>20987</c:v>
                </c:pt>
                <c:pt idx="5">
                  <c:v>18826</c:v>
                </c:pt>
                <c:pt idx="6">
                  <c:v>16094</c:v>
                </c:pt>
                <c:pt idx="7">
                  <c:v>12940</c:v>
                </c:pt>
                <c:pt idx="8">
                  <c:v>11983</c:v>
                </c:pt>
                <c:pt idx="9">
                  <c:v>9537</c:v>
                </c:pt>
                <c:pt idx="10">
                  <c:v>9325</c:v>
                </c:pt>
                <c:pt idx="11">
                  <c:v>4470</c:v>
                </c:pt>
                <c:pt idx="12">
                  <c:v>4442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6505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1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Setores do quintil mais pobre</c:v>
                </c:pt>
              </c:strCache>
            </c:strRef>
          </c:tx>
          <c:spPr>
            <a:solidFill>
              <a:srgbClr val="C2502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1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Esgoto inadequado</c:v>
                  </c:pt>
                  <c:pt idx="1">
                    <c:v>Sem abastecimento pela rede geral</c:v>
                  </c:pt>
                  <c:pt idx="2">
                    <c:v>Analfabetismo, 15 anos ou mais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10.44</c:v>
                </c:pt>
                <c:pt idx="1">
                  <c:v>6.33</c:v>
                </c:pt>
                <c:pt idx="2">
                  <c:v>4.13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Setores do quintil mais rico</c:v>
                </c:pt>
              </c:strCache>
            </c:strRef>
          </c:tx>
          <c:spPr>
            <a:solidFill>
              <a:srgbClr val="8C877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1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Esgoto inadequado</c:v>
                  </c:pt>
                  <c:pt idx="1">
                    <c:v>Sem abastecimento pela rede geral</c:v>
                  </c:pt>
                  <c:pt idx="2">
                    <c:v>Analfabetismo, 15 anos ou mais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0.42</c:v>
                </c:pt>
                <c:pt idx="1">
                  <c:v>0.6</c:v>
                </c:pt>
                <c:pt idx="2">
                  <c:v>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521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1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Sapucaia do Sul</c:v>
                </c:pt>
              </c:strCache>
            </c:strRef>
          </c:tx>
          <c:spPr>
            <a:solidFill>
              <a:srgbClr val="C2502A"/>
            </a:solidFill>
            <a:effectLst/>
          </c:spPr>
          <c:invertIfNegative val="0"/>
          <c:dLbls>
            <c:numFmt formatCode="&quot;R$ &quot;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1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Sapucaia do Sul</c:v>
                  </c:pt>
                  <c:pt idx="1">
                    <c:v>Gravataí</c:v>
                  </c:pt>
                  <c:pt idx="2">
                    <c:v>Cachoeirinha</c:v>
                  </c:pt>
                  <c:pt idx="3">
                    <c:v>Canoas</c:v>
                  </c:pt>
                  <c:pt idx="4">
                    <c:v>Esteio</c:v>
                  </c:pt>
                  <c:pt idx="5">
                    <c:v>Porto Alegre</c:v>
                  </c:pt>
                  <c:pt idx="6">
                    <c:v>Guaíba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Demais municípios</c:v>
                </c:pt>
              </c:strCache>
            </c:strRef>
          </c:tx>
          <c:spPr>
            <a:solidFill>
              <a:srgbClr val="8C877B"/>
            </a:solidFill>
            <a:effectLst/>
          </c:spPr>
          <c:invertIfNegative val="0"/>
          <c:dLbls>
            <c:numFmt formatCode="&quot;R$ &quot;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1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Sapucaia do Sul</c:v>
                  </c:pt>
                  <c:pt idx="1">
                    <c:v>Gravataí</c:v>
                  </c:pt>
                  <c:pt idx="2">
                    <c:v>Cachoeirinha</c:v>
                  </c:pt>
                  <c:pt idx="3">
                    <c:v>Canoas</c:v>
                  </c:pt>
                  <c:pt idx="4">
                    <c:v>Esteio</c:v>
                  </c:pt>
                  <c:pt idx="5">
                    <c:v>Porto Alegre</c:v>
                  </c:pt>
                  <c:pt idx="6">
                    <c:v>Guaíba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117</c:v>
                </c:pt>
                <c:pt idx="2">
                  <c:v>120</c:v>
                </c:pt>
                <c:pt idx="3">
                  <c:v>134</c:v>
                </c:pt>
                <c:pt idx="4">
                  <c:v>252</c:v>
                </c:pt>
                <c:pt idx="5">
                  <c:v>284</c:v>
                </c:pt>
                <c:pt idx="6">
                  <c:v>421</c:v>
                </c:pt>
              </c:numCache>
            </c:numRef>
          </c:val>
        </c:ser>
        <c:dLbls>
          <c:numFmt formatCode="&quot;R$ &quot;0;;;" sourceLinked="0"/>
          <c:txPr>
            <a:bodyPr/>
            <a:lstStyle/>
            <a:p>
              <a:pPr>
                <a:defRPr b="0" i="0" strike="noStrike" sz="1200" u="none">
                  <a:solidFill>
                    <a:srgbClr val="1521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1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identificar onde estão as comunidades de baixa renda próximas às lojas e o que falta para desenvolvê-las, como base para desenhar projetos. Toda a análise usa dados oficiais já carregados no Atlas; nenhum valor foi estimado.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ideias para guardar. Primeira: as lojas estão onde a renda é alta. Segunda: a população mais pobre não está longe, está no entorno ampliado, entre 2 e 5 km. Terceira: o que falta é capital humano e, dentro dos bolsões, saneamento.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o que está no Atlas vem de fonte oficial; o que é cálculo do próprio Atlas, como os números de 2010 tirados dos microdados do Censo, vem marcado como tal. São 479 unidades de saúde de atendimento: as centrais de regulação ficaram de fora e as comunidades terapêuticas estão numa camada própria. A ressalva importante é a do rodapé: o bloco de trabalho e pobreza é de 2010. Serve para comparar territórios entre si, não para dimensionar programas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Quintil: dividimos a população da região em cinco faixas iguais pela renda do responsável no setor onde mora. O quintil 1 são os 20% que moram nos setores mais pobres. Bolsão: grupo contíguo desses setores. Atribuição à loja mais próxima evita dupla contagem.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versão media cada entorno pela média do raio. A média esconde os bolsões: o raio mistura setores ricos e pobres. Refazendo com quintis e bolsões, três conclusões mudaram. A principal é saneamento, que volta a ser uma frente de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Ponderada pela população, a mediana da renda do responsável é R$ 2.825. A média é R$ 4.374. Qualquer comparação de entorno pela média faz todas as lojas parecerem estar em áreas de renda média ou alta. É também o indicador que o painel do Atlas usa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Moradores ao redor das 18 lojas de venda (sem aeroporto e unidade administrativa), contados uma vez só, por quintil de renda da região. A 2 km, 67% estão nos quintis 4 e 5. A 5 km a distribuição se aproxima da regional. A necessidade está no entorno ampliado.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tipos pedem projetos diferentes. Tipo 1: a comunidade é vizinha da loja, atuação focalizada. Tipo 2: o público está entre 2 e 5 km, e o projeto precisa ir até lá. Tipo 3: a carência é espalhada, cabe programa amplo. Tipo 4: pouca demanda local. O aeroporto não entra na tipologia.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em cada dez pessoas do quintil mais pobre da região vivem a até 5 km de alguma unidade. É uma população jovem: quase metade tem até 29 anos. O medidor mostra a fatia de 68%.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primeiros somam 115 mil pessoas. Repare no contraste: os bolsões de Porto Alegre têm muita gente em favela; os de Canoas e Sapucaia têm pouca favela e a pior escolaridade. A loja de venda mais próxima está entre 2 e 4,7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SH Center Lar concentra quase 69 mil moradores de bolsões, sobretudo no eixo Rubem Berta, Mário Quintana e Sarandi, na zona norte de Porto Alegre. Depois vêm Bourbon Ipiranga, com o Partenon, e Park Canoas, com Guajuviras.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territórios, duas necessidades. Em Porto Alegre, o problema está nas favelas: moradia, regularização, serviços. Em Canoas, Sapucaia e Esteio, os bolsões quase não são favela; o déficit é de escolaridade e de trabalho. Um projeto único não serve aos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Percentual de domicílios ou de pessoas de 15 anos ou mais, Censo 2022, somando todos os setores de cada quintil da região. Esgoto inadequado inclui fossa rudimentar, vala e destino inexistente. Nas favelas, 12,1% dos domicílios têm esgoto inadequado.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Guaíba tem a maior parcela no quintil mais pobre, 25%, e a maior em favela, 15%, mas também o maior gasto em assistência por habitante. Sapucaia tem a segunda pior escolaridade e o menor gasto. Porto Alegre é o mais desigual: renda média alta e 22% no quintil mais pobre.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Capacidade pública importa para desenhar parcerias. Onde a rede pública é mais fina, um programa privado pesa mais e encontra menos contraparte. A despesa em educação, a maior rubrica social, ainda não está na base: o script de extração já foi preparado.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frente está ancorada em um número da base. As frentes 1 e 2 servem mais aos bolsões de Canoas, Sapucaia e Esteio; a 4 aos de Porto Alegre. As frentes 3 e 5 valem para todos, mas dependem de dados que ainda faltam para dimensionar.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Seleção por tamanho, com critério explícito. A escolha final depende de três dados que faltam: quantas famílias estão no CadÚnico em cada bolsão, onde estão os CRAS e quantas vagas de creche e EJA existem. Sapucaia do Sul é a alternativa se o peso for onde a rede pública é mais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bloqueadores impedem dimensionar e avaliar um projeto. CadÚnico e RAIS são públicos e de obtenção direta. A matrícula por etapa vem do mesmo arquivo do Censo Escolar que o Atlas já processa; basta guardar o código INEP de cada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oito problemas foram reproduzidos no navegador sobre a base completa e corrigidos. Nenhum afetava esta análise, que foi calculada direto dos setores, mas afetavam quem usava o painel do Atlas: os números de abertura rotulados como Porto Alegre eram da região inteira. A versão corrigida e com a interface nova está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isso a análise se apoia em bolsões e quintis, que não dependem de um raio exato, e trata os indicadores de 2010 como ordenação. Os bolsões usam distância em linha reta até a loja; com dados de transporte, a atribuição pode mudar.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 Atlas corrigido, a ordem é: trazer os dados que respondem quem e quantos; ir a campo com os parceiros públicos e comunitários de cada território; e então escolher a frente e o território do primeiro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233172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5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SETEMBRO DE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2697480"/>
            <a:ext cx="9692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estão as comunidades perto das lojas — e o que falta nelas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452628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das 20 unidades Renner em sete municípios da Região Metropolitana de Porto Alegre, lido a partir dos 4.722 setores censitários do Censo 2022.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IBGE · INEP · DATASUS · SICONFI/STN · SSP/RS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34679" y="6236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territorial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resposta curta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920240"/>
            <a:ext cx="3368954" cy="3657600"/>
          </a:xfrm>
          <a:prstGeom prst="roundRect">
            <a:avLst>
              <a:gd name="adj" fmla="val 298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194560"/>
            <a:ext cx="2820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3200400"/>
            <a:ext cx="28203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moradores a até 2 km das lojas estão nos dois quintis de renda mais altos.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4434840"/>
            <a:ext cx="28203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se instalou no topo da distribuição de renda da região.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1370" y="1920240"/>
            <a:ext cx="3368954" cy="3657600"/>
          </a:xfrm>
          <a:prstGeom prst="roundRect">
            <a:avLst>
              <a:gd name="adj" fmla="val 298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5690" y="2194560"/>
            <a:ext cx="2820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 mil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85690" y="3200400"/>
            <a:ext cx="28203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do quintil mais pobre vivem a até 5 km de uma unidade.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85690" y="4434840"/>
            <a:ext cx="28203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 em 123 bolsões. Os quatro maiores ficam em Porto Alegre e Canoas, a 2–4 km de shoppings da rede.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8925" y="1920240"/>
            <a:ext cx="3368954" cy="3657600"/>
          </a:xfrm>
          <a:prstGeom prst="roundRect">
            <a:avLst>
              <a:gd name="adj" fmla="val 298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3245" y="2194560"/>
            <a:ext cx="2820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283245" y="3200400"/>
            <a:ext cx="28203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esgoto inadequado nos setores mais pobres do que nos mais ricos.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83245" y="4434840"/>
            <a:ext cx="282031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nos bolsões de Canoas, Sapucaia e Esteio, até 59% dos adultos não concluíram o fundamental (2010).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 MÉTODO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base: 4.722 setores em sete municípios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874520"/>
            <a:ext cx="3320186" cy="1508760"/>
          </a:xfrm>
          <a:prstGeom prst="roundRect">
            <a:avLst>
              <a:gd name="adj" fmla="val 6667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205740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 milhões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2651760"/>
            <a:ext cx="2862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em Porto Alegre, Canoas, Gravataí, Sapucaia do Sul, Cachoeirinha, Guaíba e Esteio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5754" y="1874520"/>
            <a:ext cx="3320186" cy="1508760"/>
          </a:xfrm>
          <a:prstGeom prst="roundRect">
            <a:avLst>
              <a:gd name="adj" fmla="val 6667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4354" y="205740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4.722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664354" y="2651760"/>
            <a:ext cx="2862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censitários, a menor unidade que o IBGE publica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57693" y="1874520"/>
            <a:ext cx="3320186" cy="1508760"/>
          </a:xfrm>
          <a:prstGeom prst="roundRect">
            <a:avLst>
              <a:gd name="adj" fmla="val 6667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6293" y="205740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286293" y="2651760"/>
            <a:ext cx="2862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Renner: 18 lojas de venda, uma no aeroporto e uma administrativa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" y="3566160"/>
            <a:ext cx="3320186" cy="1508760"/>
          </a:xfrm>
          <a:prstGeom prst="roundRect">
            <a:avLst>
              <a:gd name="adj" fmla="val 6667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74904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4343400"/>
            <a:ext cx="2862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em atividade, do Censo Escolar 2025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5754" y="3566160"/>
            <a:ext cx="3320186" cy="1508760"/>
          </a:xfrm>
          <a:prstGeom prst="roundRect">
            <a:avLst>
              <a:gd name="adj" fmla="val 6667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4354" y="374904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4664354" y="4343400"/>
            <a:ext cx="2862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saúde de atendimento, do CNES 2026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57693" y="3566160"/>
            <a:ext cx="3320186" cy="1508760"/>
          </a:xfrm>
          <a:prstGeom prst="roundRect">
            <a:avLst>
              <a:gd name="adj" fmla="val 6667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86293" y="3749040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286293" y="4343400"/>
            <a:ext cx="28629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oficiais carregados no Atlas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13816" y="5349240"/>
            <a:ext cx="105640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Trabalho, renda domiciliar, pobreza e escolaridade adulta vêm do Censo 2010: a amostra de 2022 não tem arquivo público. Esses números ordenam territórios; não medem a situação atual.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 MÉTODO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territórios foram lidos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920240"/>
            <a:ext cx="3058058" cy="2651760"/>
          </a:xfrm>
          <a:prstGeom prst="roundRect">
            <a:avLst>
              <a:gd name="adj" fmla="val 3793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176272"/>
            <a:ext cx="2545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487168"/>
            <a:ext cx="254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Quintil de renda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063240"/>
            <a:ext cx="25459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setor é classificado pela renda do responsável. O quintil mais pobre da região vive em setores com até R$ 1.947.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027322" y="3154680"/>
            <a:ext cx="384048" cy="182880"/>
          </a:xfrm>
          <a:prstGeom prst="rightArrow">
            <a:avLst/>
          </a:prstGeom>
          <a:solidFill>
            <a:srgbClr val="D9D5CB"/>
          </a:solidFill>
          <a:ln/>
        </p:spPr>
      </p:sp>
      <p:sp>
        <p:nvSpPr>
          <p:cNvPr id="9" name="Shape 7"/>
          <p:cNvSpPr/>
          <p:nvPr/>
        </p:nvSpPr>
        <p:spPr>
          <a:xfrm>
            <a:off x="4566818" y="1920240"/>
            <a:ext cx="3058058" cy="2651760"/>
          </a:xfrm>
          <a:prstGeom prst="roundRect">
            <a:avLst>
              <a:gd name="adj" fmla="val 3793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22850" y="2176272"/>
            <a:ext cx="2545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22850" y="2487168"/>
            <a:ext cx="254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Bolsões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822850" y="3063240"/>
            <a:ext cx="25459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 quintil mais pobre a até 600 m uns dos outros formam um bolsão. São 123 a até 5 km de alguma unidade.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780325" y="3154680"/>
            <a:ext cx="384048" cy="182880"/>
          </a:xfrm>
          <a:prstGeom prst="rightArrow">
            <a:avLst/>
          </a:prstGeom>
          <a:solidFill>
            <a:srgbClr val="D9D5CB"/>
          </a:solidFill>
          <a:ln/>
        </p:spPr>
      </p:sp>
      <p:sp>
        <p:nvSpPr>
          <p:cNvPr id="14" name="Shape 12"/>
          <p:cNvSpPr/>
          <p:nvPr/>
        </p:nvSpPr>
        <p:spPr>
          <a:xfrm>
            <a:off x="8319821" y="1920240"/>
            <a:ext cx="3058058" cy="2651760"/>
          </a:xfrm>
          <a:prstGeom prst="roundRect">
            <a:avLst>
              <a:gd name="adj" fmla="val 3793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75853" y="2176272"/>
            <a:ext cx="2545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575853" y="2487168"/>
            <a:ext cx="254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Loja mais próxima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75853" y="3063240"/>
            <a:ext cx="254599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bolsão conta uma vez, na loja de venda mais próxima. Os raios das lojas se sobrepõem em 22 pares.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" y="5349240"/>
            <a:ext cx="10564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somar o raio de cada loja: os 20 raios de 2 km somam 1,4 milhão de pessoas — 59% da região, contando muita gente duas vezes.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 MÉTODO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mudou desde a primeira análise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920240"/>
          <a:ext cx="10564063" cy="914400"/>
        </p:xfrm>
        <a:graphic>
          <a:graphicData uri="http://schemas.openxmlformats.org/drawingml/2006/table">
            <a:tbl>
              <a:tblPr/>
              <a:tblGrid>
                <a:gridCol w="4225625"/>
                <a:gridCol w="6338438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Primeira versão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 reanálise mostra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 não é problema no entorno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é na média do raio. Nos setores mais pobres, 10,4% dos domicílios têm esgoto inadequado — 0,4% nos mais ricos.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público mora no anel de 2 a 5 km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para 11 das 20 unidades. Em quatro delas, a comunidade está dentro dos 2 km.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os anéis têm mais população preta ou parda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de 20.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de 20 entornos acima da renda média regional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de 20 — e os 20 acima da mediana.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Agrupamento “Arco Norte de Porto Alegre”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Barrasul e Teresópolis ficam na zona sul. O agrupamento por loja deu lugar aos bolsões.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5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REDE ESTÁ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média da renda engana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148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5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R$ 2.825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3017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da renda do responsável nos setores da região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34456" y="2148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R$ 4.374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934456" y="3017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— 55% acima, puxada por poucos setores muito ricos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475488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20 entornos de 2 km têm renda média acima da mediana regional. Por isso esta análise usa quintis — a parcela dos moradores em cada faixa de renda — e não médias.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REDE ESTÁ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rede está no topo da distribuição de renda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78308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ao redor das 18 lojas de venda, contados uma vez, por quintil de renda da região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22376" y="2103120"/>
          <a:ext cx="10655503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" y="5120640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quintis mais pobres somam </a:t>
            </a:r>
            <a:pPr indent="0" marL="0">
              <a:buNone/>
            </a:pPr>
            <a:r>
              <a:rPr lang="en-US" sz="16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mil</a:t>
            </a:r>
            <a:pPr indent="0" marL="0">
              <a:buNone/>
            </a:pPr>
            <a:r>
              <a:rPr lang="en-US" sz="16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pessoas a até 2 km das lojas e </a:t>
            </a:r>
            <a:pPr indent="0" marL="0">
              <a:buNone/>
            </a:pPr>
            <a:r>
              <a:rPr lang="en-US" sz="16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 mil</a:t>
            </a:r>
            <a:pPr indent="0" marL="0">
              <a:buNone/>
            </a:pPr>
            <a:r>
              <a:rPr lang="en-US" sz="16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até 5 km. </a:t>
            </a:r>
            <a:pPr indent="0" marL="0">
              <a:buNone/>
            </a:pPr>
            <a:r>
              <a:rPr lang="en-US" sz="16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região, cada quintil tem 20% da população.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REDE ESTÁ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tipos de entorno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5190592" cy="1965960"/>
          </a:xfrm>
          <a:prstGeom prst="roundRect">
            <a:avLst>
              <a:gd name="adj" fmla="val 511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2011680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2286000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 colada à loja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2724912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a 26% dos moradores de 2 km no quintil mais pobre.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3200400"/>
            <a:ext cx="473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Barrasul · Loja Adm Porto Alegre · SH Bourbon Teresópolis · SH Center Lar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7288" y="1828800"/>
            <a:ext cx="5190592" cy="1965960"/>
          </a:xfrm>
          <a:prstGeom prst="roundRect">
            <a:avLst>
              <a:gd name="adj" fmla="val 511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5888" y="2011680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15888" y="2286000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Bolsão grande a 2–5 km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15888" y="2724912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5% no quintil mais pobre em 2 km; bolsão de 14 mil ou mais adiante.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3200400"/>
            <a:ext cx="473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Bourbon Ipiranga · SH Park Canoas · SH Canoas · SH Iguatemi POA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" y="3977640"/>
            <a:ext cx="5190592" cy="1965960"/>
          </a:xfrm>
          <a:prstGeom prst="roundRect">
            <a:avLst>
              <a:gd name="adj" fmla="val 511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42416" y="4160520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4434840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baixa-média difusa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" y="4873752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média de 8% a 34% abaixo da região no raio de 2 km.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5349240"/>
            <a:ext cx="473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 Sapucaia do Sul · SH do Vale · LJ Guaíba · LJ Esteio · SH Gravataí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7288" y="3977640"/>
            <a:ext cx="5190592" cy="1965960"/>
          </a:xfrm>
          <a:prstGeom prst="roundRect">
            <a:avLst>
              <a:gd name="adj" fmla="val 511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5888" y="4160520"/>
            <a:ext cx="473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15888" y="4434840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 de renda alta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15888" y="4873752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máximo 2% dos moradores de 2 km no quintil mais pobre.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15888" y="5349240"/>
            <a:ext cx="473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 Otávio Rocha · SH Praia de Belas · SH João Pessoa · SH Total · SH Bourbon Wallig · CC Canoas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AS COMUNIDADES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bolsões perto das lojas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9202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 mil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2834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em setores do quintil mais pobre vivem a até 5 km de uma unidade Renner.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" y="4160520"/>
            <a:ext cx="4572000" cy="182880"/>
          </a:xfrm>
          <a:prstGeom prst="roundRect">
            <a:avLst>
              <a:gd name="adj" fmla="val 20000"/>
            </a:avLst>
          </a:prstGeom>
          <a:solidFill>
            <a:srgbClr val="CDE2FB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4160520"/>
            <a:ext cx="3099816" cy="182880"/>
          </a:xfrm>
          <a:prstGeom prst="roundRect">
            <a:avLst>
              <a:gd name="adj" fmla="val 20000"/>
            </a:avLst>
          </a:prstGeom>
          <a:solidFill>
            <a:srgbClr val="256AB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3816" y="44531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de toda a população do quintil mais pobre da região (476.553 pessoas)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65976" y="1920240"/>
            <a:ext cx="47119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665976" y="2487168"/>
            <a:ext cx="47119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bolsões — grupos de setores do quintil mais pobre a até 600 m uns dos outros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65976" y="3108960"/>
            <a:ext cx="4711903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65976" y="3246120"/>
            <a:ext cx="47119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 mil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665976" y="3813048"/>
            <a:ext cx="47119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nos 25 bolsões com 2 mil habitantes ou mais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65976" y="4434840"/>
            <a:ext cx="4711903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5976" y="4572000"/>
            <a:ext cx="47119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665976" y="5138928"/>
            <a:ext cx="47119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moradores dos bolsões têm de 15 a 29 anos; outros 23%, até 14 anos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AS COMUNIDADES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dez maiores bolsões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74520"/>
          <a:ext cx="10564063" cy="914400"/>
        </p:xfrm>
        <a:graphic>
          <a:graphicData uri="http://schemas.openxmlformats.org/drawingml/2006/table">
            <a:tbl>
              <a:tblPr/>
              <a:tblGrid>
                <a:gridCol w="422563"/>
                <a:gridCol w="2852297"/>
                <a:gridCol w="1056406"/>
                <a:gridCol w="1267688"/>
                <a:gridCol w="1056406"/>
                <a:gridCol w="845125"/>
                <a:gridCol w="950766"/>
                <a:gridCol w="1478969"/>
                <a:gridCol w="63384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Território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Crianças 0–14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favela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fund.*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Loja de venda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Mário Quintana, Rubem Berta — POA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 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Vila São José, Partenon — POA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8.223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Bourbon Ipiranga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Guajuviras — Canoas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R$ 1.490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 Canoas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Tereza, Cristal — POA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Barrasul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Harmonia, Mathias Velho — Canoas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R$ 1.803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Canoas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Santa Rosa de Lima, Sarandi — POA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 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Jesus, Jardim Carvalho — POA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Iguatemi POA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Vila Anair, Caí — Cachoeirinha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do Vale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Farrapos, Humaitá — POA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R$ 1.562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Bourbon Wallig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Sapucaia do Sul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R$ 1.693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LJ Sapucaia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557784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Adultos de 25 anos ou mais sem fundamental completo, Censo 2010. Renda: média do responsável, Censo 2022. Loja de venda: exclui aeroporto e unidade administrativa.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AS COMUNIDADES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Bolsões por loja de venda mais próxima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783080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dos 25 bolsões com 2 mil habitantes ou mais, cada um contado uma vez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22376" y="2103120"/>
          <a:ext cx="8595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9592056" y="2194560"/>
            <a:ext cx="17858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mil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592056" y="2926080"/>
            <a:ext cx="178582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de bolsões têm o SH Center Lar como loja de venda mais próxima: eixo Rubem Berta, Mário Quintana e Sarandi, zona norte de Porto Alegre.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AS COMUNIDADES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perfis de carência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5167732" cy="4114800"/>
          </a:xfrm>
          <a:prstGeom prst="roundRect">
            <a:avLst>
              <a:gd name="adj" fmla="val 2444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57400"/>
            <a:ext cx="461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Porto Alegre · 12 bolsões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 12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779776" y="2606040"/>
            <a:ext cx="292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bolsões com 45% ou mais dos moradores em favela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32–61%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779776" y="3264408"/>
            <a:ext cx="292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população preta ou parda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39227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21–51%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779776" y="3922776"/>
            <a:ext cx="292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adultos sem fundamental (2010)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8136" y="4709160"/>
            <a:ext cx="4619092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88136" y="4846320"/>
            <a:ext cx="46190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Carência concentrada em favelas: urbanização, regularização e serviços dentro da comunidade.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0148" y="1828800"/>
            <a:ext cx="5167732" cy="4114800"/>
          </a:xfrm>
          <a:prstGeom prst="roundRect">
            <a:avLst>
              <a:gd name="adj" fmla="val 2444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84468" y="2057400"/>
            <a:ext cx="4619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Canoas, Sapucaia e Esteio · 8 bolsões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26060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8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176108" y="2606040"/>
            <a:ext cx="292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bolsões com 51% ou mais dos adultos sem fundamental (2010)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84468" y="32644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0–33%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176108" y="3264408"/>
            <a:ext cx="292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moradores em favela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84468" y="39227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176108" y="3922776"/>
            <a:ext cx="29274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desocupação em Guajuviras (2010), a maior dos 123 bolsões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84468" y="4709160"/>
            <a:ext cx="4619092" cy="0"/>
          </a:xfrm>
          <a:prstGeom prst="line">
            <a:avLst/>
          </a:prstGeom>
          <a:noFill/>
          <a:ln w="9525">
            <a:solidFill>
              <a:srgbClr val="D9D5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84468" y="4846320"/>
            <a:ext cx="46190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Carência de escolaridade e de trabalho, fora das favelas: educação de adultos e emprego formal.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dos bolsões, o saneamento ainda falta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22376" y="2103120"/>
          <a:ext cx="6309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" y="18105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C2502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60704" y="17647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 quintil mais pobre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57016" y="1810512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8C877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803904" y="176479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do quintil mais rico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88936" y="1920240"/>
            <a:ext cx="388894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mil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7488936" y="2834640"/>
            <a:ext cx="388894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vivem em setores do quintil mais pobre com menos de 80% de esgoto adequado.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488936" y="5074920"/>
            <a:ext cx="3888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média de cada raio de 2 km, o esgoto adequado fica entre 95,7% e 99,8%. A média escondia os bolsões.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sete municípios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1874520"/>
          <a:ext cx="10564063" cy="914400"/>
        </p:xfrm>
        <a:graphic>
          <a:graphicData uri="http://schemas.openxmlformats.org/drawingml/2006/table">
            <a:tbl>
              <a:tblPr/>
              <a:tblGrid>
                <a:gridCol w="2324094"/>
                <a:gridCol w="1478969"/>
                <a:gridCol w="1373328"/>
                <a:gridCol w="1478969"/>
                <a:gridCol w="1162047"/>
                <a:gridCol w="1373328"/>
                <a:gridCol w="13733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Município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quintil mais pobre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favela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fund. (2010)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Assistência R$/hab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Porto Alegre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1.332.845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R$ 5.317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347.657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R$ 3.560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Gravataí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265.074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R$ 2.740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Sapucaia do Sul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132.107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R$ 2.648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Cachoeirinha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136.258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R$ 3.008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Guaíba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R$ 2.728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Esteio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R$ 3.139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650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 (7)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2.383.002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R$ 4.374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5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" y="5504688"/>
            <a:ext cx="10564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fundamental: adultos de 25 anos ou mais, valor municipal de 2010 calculado pelo Atlas sobre os microdados do Censo; na região, ponderado pela população de 2022. Assistência: despesa empenhada em 2024 (SICONFI) sobre a população estimada de 2026.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assistência social por habitante varia sete vezes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municipal empenhada em assistência social por habitante, 2024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22376" y="2103120"/>
          <a:ext cx="65836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63256" y="2103120"/>
            <a:ext cx="36146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Sapucaia do Sul tem o entorno de loja mais pobre da rede e o menor gasto em assistência.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63256" y="3291840"/>
            <a:ext cx="36146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função trabalho, só Canoas gasta de forma relevante: R$ 107 por habitante. Os outros seis, de R$ 0 a R$ 14.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63256" y="5394960"/>
            <a:ext cx="36146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classificado em outras funções não aparece aqui.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frentes que os dados sustentam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5190592" cy="1249680"/>
          </a:xfrm>
          <a:prstGeom prst="roundRect">
            <a:avLst>
              <a:gd name="adj" fmla="val 8049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1984248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54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</a:t>
            </a:r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Educação de adultos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2395728"/>
            <a:ext cx="473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bolsões de Canoas, Sapucaia e Esteio, 36% a 59% dos adultos não concluíram o fundamental (2010).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87288" y="1828800"/>
            <a:ext cx="5190592" cy="1249680"/>
          </a:xfrm>
          <a:prstGeom prst="roundRect">
            <a:avLst>
              <a:gd name="adj" fmla="val 8049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5888" y="1984248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54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</a:t>
            </a:r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 renda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2395728"/>
            <a:ext cx="473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Guajuviras teve a maior desocupação dos 123 bolsões, 10,6% em 2010. Só Canoas gasta na função trabalho.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" y="3261360"/>
            <a:ext cx="5190592" cy="1249680"/>
          </a:xfrm>
          <a:prstGeom prst="roundRect">
            <a:avLst>
              <a:gd name="adj" fmla="val 8049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416808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54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</a:t>
            </a:r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Primeira infância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828288"/>
            <a:ext cx="473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dos moradores dos bolsões têm até 14 anos. A oferta de creche é o dado que ainda falta.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87288" y="3261360"/>
            <a:ext cx="5190592" cy="1249680"/>
          </a:xfrm>
          <a:prstGeom prst="roundRect">
            <a:avLst>
              <a:gd name="adj" fmla="val 8049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5888" y="3416808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54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</a:t>
            </a:r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 nas favelas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3828288"/>
            <a:ext cx="473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mil pessoas em setores pobres com menos de 80% de esgoto adequado. Pede parceria com o poder público.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" y="4693920"/>
            <a:ext cx="5190592" cy="1249680"/>
          </a:xfrm>
          <a:prstGeom prst="roundRect">
            <a:avLst>
              <a:gd name="adj" fmla="val 8049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4849368"/>
            <a:ext cx="473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54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  </a:t>
            </a:r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Juventude de 15 a 29 anos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5260848"/>
            <a:ext cx="473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em cada quatro moradores dos bolsões. Falta saber quantos estão fora da escola e do trabalho.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87288" y="4693920"/>
            <a:ext cx="5190592" cy="1249680"/>
          </a:xfrm>
          <a:prstGeom prst="roundRect">
            <a:avLst>
              <a:gd name="adj" fmla="val 8049"/>
            </a:avLst>
          </a:prstGeom>
          <a:solidFill>
            <a:srgbClr val="1521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1608" y="4831080"/>
            <a:ext cx="4641952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mostra </a:t>
            </a:r>
            <a:pPr indent="0" marL="0">
              <a:buNone/>
            </a:pPr>
            <a:r>
              <a:rPr lang="en-US" sz="15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</a:t>
            </a:r>
            <a:pPr indent="0" marL="0">
              <a:buNone/>
            </a:pPr>
            <a:r>
              <a:rPr lang="en-US" sz="15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agir. </a:t>
            </a:r>
            <a:pPr indent="0" marL="0">
              <a:buNone/>
            </a:pPr>
            <a:r>
              <a:rPr lang="en-US" sz="1500" b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pPr indent="0" marL="0">
              <a:buNone/>
            </a:pPr>
            <a:r>
              <a:rPr lang="en-US" sz="15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atender depende do CadÚnico e da rede CRAS, que ainda não estão no Atlas.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territórios para começar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5190592" cy="1691640"/>
          </a:xfrm>
          <a:prstGeom prst="roundRect">
            <a:avLst>
              <a:gd name="adj" fmla="val 594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1993392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Mário Quintana e Rubem Berta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2377440"/>
            <a:ext cx="473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Alegre · SH Center Lar a 3,9 km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272491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38.555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309067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20213" y="272491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620213" y="309067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98010" y="272491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198010" y="309067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favela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7288" y="1828800"/>
            <a:ext cx="5190592" cy="1691640"/>
          </a:xfrm>
          <a:prstGeom prst="roundRect">
            <a:avLst>
              <a:gd name="adj" fmla="val 594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5888" y="1993392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Vila São José e Partenon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15888" y="2377440"/>
            <a:ext cx="473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Alegre · SH Bourbon Ipiranga a 3,0 km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72491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34.346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309067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93685" y="272491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8.223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93685" y="309067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571482" y="272491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571482" y="309067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favela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" y="3703320"/>
            <a:ext cx="5190592" cy="1691640"/>
          </a:xfrm>
          <a:prstGeom prst="roundRect">
            <a:avLst>
              <a:gd name="adj" fmla="val 594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2416" y="3867912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Guajuviras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" y="4251960"/>
            <a:ext cx="473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Canoas · SH Park Canoas a 4,1 km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" y="459943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21.514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496519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20213" y="459943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2620213" y="496519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fund.*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198010" y="459943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10,6%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198010" y="496519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desocupação*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87288" y="3703320"/>
            <a:ext cx="5190592" cy="1691640"/>
          </a:xfrm>
          <a:prstGeom prst="roundRect">
            <a:avLst>
              <a:gd name="adj" fmla="val 594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15888" y="3867912"/>
            <a:ext cx="473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Santa Tereza e Cristal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415888" y="4251960"/>
            <a:ext cx="473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Alegre · SH Barrasul a 2,0 km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15888" y="459943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20.987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6415888" y="496519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993685" y="459943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4.902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7993685" y="496519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571482" y="4599432"/>
            <a:ext cx="1577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9571482" y="4965192"/>
            <a:ext cx="15777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favela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" y="5532120"/>
            <a:ext cx="105640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os quatro maiores bolsões. Sapucaia do Sul — 12 mil moradores, 57% sem fundamental, a 2 km da loja — sobe se o peso for a baixa capacidade pública local. * Censo 2010.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FERRAMENTA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falta na base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1783080"/>
            <a:ext cx="5076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Bloqueadores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2286000"/>
            <a:ext cx="50762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 renda só existem para 2010 → RAIS, Novo CAGED, PNAD Contínua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CadÚnico, Bolsa Família e BPC → CECAD e VIS Data (MDS)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assistência, CRAS e CREAS → Censo SUAS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por etapa e creche → Censo Escolar, com o código INEP da escola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educacional → IDEB e SAEB por escola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 renda domiciliar → faixas de rendimento do Censo 2022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1588" y="1783080"/>
            <a:ext cx="50762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1588" y="2286000"/>
            <a:ext cx="50762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os empregos, por atividade → RAIS, CEMPRE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real por ônibus e Trensurb → GTFS e estações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nos domicílios → Censo 2022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Jovens fora da escola e do trabalho → PNAD Contínua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Violência por bairro → SSP/RS e prefeituras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da enchente de 2024 por setor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Organizações comunitárias em cada bolsão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" y="5303520"/>
            <a:ext cx="10564063" cy="548640"/>
          </a:xfrm>
          <a:prstGeom prst="roundRect">
            <a:avLst>
              <a:gd name="adj" fmla="val 13333"/>
            </a:avLst>
          </a:prstGeom>
          <a:solidFill>
            <a:srgbClr val="EDEAE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42416" y="5303520"/>
            <a:ext cx="1010686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preparado no código: despesa municipal em educação (falta executar o script) e IDHM, IVS, IDESE e FIRJAN (faltam as planilhas oficiais).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FERRAMENTA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oito correções do Atlas estão feitas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3566160" cy="4114800"/>
          </a:xfrm>
          <a:prstGeom prst="roundRect">
            <a:avLst>
              <a:gd name="adj" fmla="val 2821"/>
            </a:avLst>
          </a:prstGeom>
          <a:solidFill>
            <a:srgbClr val="1521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8136" y="20848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Atlas foi ampliado de Porto Alegre para sete municípios. Partes do código ainda tratavam todos os bairros como Porto Alegre.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47548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dados estava correta: somas exatas e só 0,13% da população sem renda por sigilo do IBGE.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45736" y="1828800"/>
            <a:ext cx="6632143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abertura: totais dos sete municípios com rótulo de Porto Alegre — 222.113 em favela; POA tem 175.519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“NaN moradores” no texto do painel de abertura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de cobertura de 178,6% da população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“vs. POA” comparava com a região: em Guaíba, −22% vira +25% contra o próprio município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 população do município errada fora de Porto Alegre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“Equipamentos públicos” incluía escolas e saúde privadas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 colapsavam em indicadores com muitos zeros, como favela por setor</a:t>
            </a:r>
            <a:endParaRPr lang="en-US" sz="14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Renner sem município no arquivo de dados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45736" y="4983480"/>
            <a:ext cx="6632143" cy="960120"/>
          </a:xfrm>
          <a:prstGeom prst="roundRect">
            <a:avLst>
              <a:gd name="adj" fmla="val 7619"/>
            </a:avLst>
          </a:prstGeom>
          <a:solidFill>
            <a:srgbClr val="EDEA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74336" y="4983480"/>
            <a:ext cx="617494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Corrigidas e verificadas no navegador com a base completa (setembro de 2026). </a:t>
            </a:r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mesma revisão, nenhum painel mostra mais “aguardando integração”: onde o IBGE não publica o dado do setor, o Atlas mostra o do bairro ou do município, identificado.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FERRAMENTA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desta leitura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3816" y="1828800"/>
            <a:ext cx="5190592" cy="1965960"/>
          </a:xfrm>
          <a:prstGeom prst="roundRect">
            <a:avLst>
              <a:gd name="adj" fmla="val 511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84832"/>
            <a:ext cx="464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Borda do raio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06040"/>
            <a:ext cx="464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a 69% dos moradores de um raio de 2 km vivem em setores cortados pela borda. Vale o padrão, não o número.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7288" y="1828800"/>
            <a:ext cx="5190592" cy="1965960"/>
          </a:xfrm>
          <a:prstGeom prst="roundRect">
            <a:avLst>
              <a:gd name="adj" fmla="val 511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2084832"/>
            <a:ext cx="464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 de 2010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61608" y="2606040"/>
            <a:ext cx="464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taxas de 2010 vêm de cerca de 100 áreas de ponderação. Um raio de 2 km contém de 3 a 10 delas.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" y="3977640"/>
            <a:ext cx="5190592" cy="1965960"/>
          </a:xfrm>
          <a:prstGeom prst="roundRect">
            <a:avLst>
              <a:gd name="adj" fmla="val 511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88136" y="4233672"/>
            <a:ext cx="464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 ordena, não mede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88136" y="4754880"/>
            <a:ext cx="464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de postos de 0,65 a 0,70 com a renda de 2022: ordena territórios, não dimensiona programas.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87288" y="3977640"/>
            <a:ext cx="5190592" cy="1965960"/>
          </a:xfrm>
          <a:prstGeom prst="roundRect">
            <a:avLst>
              <a:gd name="adj" fmla="val 5116"/>
            </a:avLst>
          </a:prstGeom>
          <a:solidFill>
            <a:srgbClr val="FCFBF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608" y="4233672"/>
            <a:ext cx="464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5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Distância em linha reta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4754880"/>
            <a:ext cx="464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6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raio ignora o Guaíba, a BR-116 e a ferrovia. Acesso real pede isócronas por transporte.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3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65836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5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932688"/>
            <a:ext cx="105640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passos antes do primeiro projeto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514600"/>
            <a:ext cx="3247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5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13816" y="3246120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Completar a base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3794760"/>
            <a:ext cx="32470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CadÚnico, RAIS e matrícula por etapa: definem quem atender e com qual projeto.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72330" y="2514600"/>
            <a:ext cx="3247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5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472330" y="3246120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em campo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472330" y="3794760"/>
            <a:ext cx="32470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territórios candidatos, com prefeituras, CRAS e organizações locais.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130845" y="2514600"/>
            <a:ext cx="32470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58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130845" y="3246120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2E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o piloto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130845" y="3794760"/>
            <a:ext cx="32470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base completa e a validação, definir a frente e o território do primeiro projeto.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534924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feito: as oito correções do Atlas e a revisão da interface (setembro de 2026).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Metropolitano RMPA · entorno das unidades Renner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463479" y="6236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C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Atlas Metropolitano RMPA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Entorno das lojas — desenvolvimento socioeconômico na RMPA</dc:title>
  <dc:subject>PptxGenJS Presentation</dc:subject>
  <dc:creator>PptxGenJS</dc:creator>
  <cp:lastModifiedBy>PptxGenJS</cp:lastModifiedBy>
  <cp:revision>1</cp:revision>
  <dcterms:created xsi:type="dcterms:W3CDTF">2026-09-23T00:13:25Z</dcterms:created>
  <dcterms:modified xsi:type="dcterms:W3CDTF">2026-09-23T00:13:25Z</dcterms:modified>
</cp:coreProperties>
</file>